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handoutMasterIdLst>
    <p:handoutMasterId r:id="rId10"/>
  </p:handoutMasterIdLst>
  <p:sldIdLst>
    <p:sldId id="289" r:id="rId5"/>
    <p:sldId id="340" r:id="rId6"/>
    <p:sldId id="329" r:id="rId7"/>
    <p:sldId id="33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tika Talwar" userId="83b8a80bc06b6146" providerId="LiveId" clId="{D2115729-8A85-4AA6-A822-2E027EFBB9A9}"/>
    <pc:docChg chg="undo custSel modSld">
      <pc:chgData name="Ritika Talwar" userId="83b8a80bc06b6146" providerId="LiveId" clId="{D2115729-8A85-4AA6-A822-2E027EFBB9A9}" dt="2025-11-18T21:20:42.007" v="9" actId="20577"/>
      <pc:docMkLst>
        <pc:docMk/>
      </pc:docMkLst>
      <pc:sldChg chg="addSp delSp modSp mod">
        <pc:chgData name="Ritika Talwar" userId="83b8a80bc06b6146" providerId="LiveId" clId="{D2115729-8A85-4AA6-A822-2E027EFBB9A9}" dt="2025-11-18T21:20:32.650" v="7" actId="20577"/>
        <pc:sldMkLst>
          <pc:docMk/>
          <pc:sldMk cId="1718004908" sldId="329"/>
        </pc:sldMkLst>
        <pc:spChg chg="add del mod">
          <ac:chgData name="Ritika Talwar" userId="83b8a80bc06b6146" providerId="LiveId" clId="{D2115729-8A85-4AA6-A822-2E027EFBB9A9}" dt="2025-11-18T21:20:32.650" v="7" actId="20577"/>
          <ac:spMkLst>
            <pc:docMk/>
            <pc:sldMk cId="1718004908" sldId="329"/>
            <ac:spMk id="4" creationId="{CC9D9611-42EE-7840-81EE-DD6B1A99CD7B}"/>
          </ac:spMkLst>
        </pc:spChg>
      </pc:sldChg>
      <pc:sldChg chg="modSp mod">
        <pc:chgData name="Ritika Talwar" userId="83b8a80bc06b6146" providerId="LiveId" clId="{D2115729-8A85-4AA6-A822-2E027EFBB9A9}" dt="2025-11-18T21:20:42.007" v="9" actId="20577"/>
        <pc:sldMkLst>
          <pc:docMk/>
          <pc:sldMk cId="32494612" sldId="336"/>
        </pc:sldMkLst>
        <pc:spChg chg="mod">
          <ac:chgData name="Ritika Talwar" userId="83b8a80bc06b6146" providerId="LiveId" clId="{D2115729-8A85-4AA6-A822-2E027EFBB9A9}" dt="2025-11-18T21:20:42.007" v="9" actId="20577"/>
          <ac:spMkLst>
            <pc:docMk/>
            <pc:sldMk cId="32494612" sldId="336"/>
            <ac:spMk id="4" creationId="{1625FA15-B17F-387B-E383-5505647ABB89}"/>
          </ac:spMkLst>
        </pc:spChg>
      </pc:sldChg>
      <pc:sldChg chg="modSp mod">
        <pc:chgData name="Ritika Talwar" userId="83b8a80bc06b6146" providerId="LiveId" clId="{D2115729-8A85-4AA6-A822-2E027EFBB9A9}" dt="2025-11-18T21:20:17.075" v="3" actId="20577"/>
        <pc:sldMkLst>
          <pc:docMk/>
          <pc:sldMk cId="713092616" sldId="340"/>
        </pc:sldMkLst>
        <pc:spChg chg="mod">
          <ac:chgData name="Ritika Talwar" userId="83b8a80bc06b6146" providerId="LiveId" clId="{D2115729-8A85-4AA6-A822-2E027EFBB9A9}" dt="2025-11-18T21:20:17.075" v="3" actId="20577"/>
          <ac:spMkLst>
            <pc:docMk/>
            <pc:sldMk cId="713092616" sldId="340"/>
            <ac:spMk id="4" creationId="{1625FA15-B17F-387B-E383-5505647ABB8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18/11/2025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18/11/2025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a:xfrm>
            <a:off x="544286" y="2579715"/>
            <a:ext cx="11549743" cy="2160000"/>
          </a:xfrm>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19-11-2025</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dirty="0"/>
              <a:t>Group Name:  Group A 62                                 Name of Student Presenting: Ritika Talwar</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Group A 62                 Names of Student Attendees  (all group should attend to get feedback): </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791022"/>
            <a:ext cx="9753625" cy="391552"/>
          </a:xfrm>
        </p:spPr>
        <p:txBody>
          <a:bodyPr vert="horz" lIns="0" tIns="0" rIns="0" bIns="0" rtlCol="0" anchor="t">
            <a:noAutofit/>
          </a:bodyPr>
          <a:lstStyle/>
          <a:p>
            <a:pPr>
              <a:spcAft>
                <a:spcPts val="0"/>
              </a:spcAft>
            </a:pPr>
            <a:r>
              <a:rPr lang="en-GB" sz="2400" dirty="0">
                <a:solidFill>
                  <a:srgbClr val="203232"/>
                </a:solidFill>
                <a:cs typeface="Arial"/>
              </a:rPr>
              <a:t>Our Dataset summary</a:t>
            </a:r>
            <a:endParaRPr lang="en-GB" sz="1200" dirty="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a:xfrm>
            <a:off x="965289" y="403124"/>
            <a:ext cx="7176911" cy="297050"/>
          </a:xfrm>
        </p:spPr>
        <p:txBody>
          <a:bodyPr/>
          <a:lstStyle/>
          <a:p>
            <a:r>
              <a:rPr lang="en-GB" dirty="0"/>
              <a:t>PRE 7COM1079-2025  Student Group No:  Group A62</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dirty="0"/>
              <a:t>2</a:t>
            </a:r>
            <a:endParaRPr lang="en-GB" dirty="0"/>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279799" y="1266293"/>
            <a:ext cx="10439115" cy="5424679"/>
          </a:xfrm>
        </p:spPr>
        <p:txBody>
          <a:bodyPr>
            <a:normAutofit/>
          </a:bodyPr>
          <a:lstStyle/>
          <a:p>
            <a:pPr>
              <a:lnSpc>
                <a:spcPts val="2880"/>
              </a:lnSpc>
              <a:spcBef>
                <a:spcPts val="0"/>
              </a:spcBef>
              <a:spcAft>
                <a:spcPts val="992"/>
              </a:spcAft>
            </a:pPr>
            <a:r>
              <a:rPr lang="en-GB" sz="2800" b="0" dirty="0">
                <a:solidFill>
                  <a:srgbClr val="FF0000"/>
                </a:solidFill>
                <a:latin typeface="Times New Roman" panose="02020603050405020304" pitchFamily="18" charset="0"/>
                <a:cs typeface="Times New Roman" panose="02020603050405020304" pitchFamily="18" charset="0"/>
              </a:rPr>
              <a:t>1</a:t>
            </a:r>
            <a:r>
              <a:rPr lang="en-GB" sz="2400" b="0" dirty="0">
                <a:solidFill>
                  <a:srgbClr val="FF0000"/>
                </a:solidFill>
                <a:latin typeface="Times New Roman" panose="02020603050405020304" pitchFamily="18" charset="0"/>
                <a:cs typeface="Times New Roman" panose="02020603050405020304" pitchFamily="18" charset="0"/>
              </a:rPr>
              <a:t>. Variable used in our Research Question:</a:t>
            </a:r>
            <a:br>
              <a:rPr lang="en-GB" sz="2000" b="0" dirty="0">
                <a:solidFill>
                  <a:schemeClr val="tx2"/>
                </a:solidFill>
                <a:latin typeface="Times New Roman" panose="02020603050405020304" pitchFamily="18" charset="0"/>
                <a:cs typeface="Times New Roman" panose="02020603050405020304" pitchFamily="18" charset="0"/>
              </a:rPr>
            </a:br>
            <a:r>
              <a:rPr lang="en-GB" sz="2000" b="0" dirty="0">
                <a:solidFill>
                  <a:schemeClr val="tx2"/>
                </a:solidFill>
                <a:latin typeface="Times New Roman" panose="02020603050405020304" pitchFamily="18" charset="0"/>
                <a:cs typeface="Times New Roman" panose="02020603050405020304" pitchFamily="18" charset="0"/>
              </a:rPr>
              <a:t>   Independent variable : Age </a:t>
            </a:r>
            <a:br>
              <a:rPr lang="en-GB" sz="2000" b="0" dirty="0">
                <a:solidFill>
                  <a:schemeClr val="tx2"/>
                </a:solidFill>
                <a:latin typeface="Times New Roman" panose="02020603050405020304" pitchFamily="18" charset="0"/>
                <a:cs typeface="Times New Roman" panose="02020603050405020304" pitchFamily="18" charset="0"/>
              </a:rPr>
            </a:br>
            <a:r>
              <a:rPr lang="en-GB" sz="2000" b="0" dirty="0">
                <a:solidFill>
                  <a:schemeClr val="tx2"/>
                </a:solidFill>
                <a:latin typeface="Times New Roman" panose="02020603050405020304" pitchFamily="18" charset="0"/>
                <a:cs typeface="Times New Roman" panose="02020603050405020304" pitchFamily="18" charset="0"/>
              </a:rPr>
              <a:t>   Dependent variable : Total Amount </a:t>
            </a:r>
            <a:br>
              <a:rPr lang="en-GB" sz="2400" b="0" dirty="0">
                <a:solidFill>
                  <a:srgbClr val="FF0000"/>
                </a:solidFill>
                <a:latin typeface="Times New Roman" panose="02020603050405020304" pitchFamily="18" charset="0"/>
                <a:cs typeface="Times New Roman" panose="02020603050405020304" pitchFamily="18" charset="0"/>
              </a:rPr>
            </a:br>
            <a:r>
              <a:rPr lang="en-GB" sz="2400" b="0" dirty="0">
                <a:solidFill>
                  <a:srgbClr val="FF0000"/>
                </a:solidFill>
                <a:latin typeface="Times New Roman" panose="02020603050405020304" pitchFamily="18" charset="0"/>
                <a:cs typeface="Times New Roman" panose="02020603050405020304" pitchFamily="18" charset="0"/>
              </a:rPr>
              <a:t>2. The 5 Rows from dataset:</a:t>
            </a:r>
            <a:br>
              <a:rPr lang="en-GB" sz="2400" dirty="0">
                <a:solidFill>
                  <a:srgbClr val="FF0000"/>
                </a:solidFill>
                <a:cs typeface="Arial"/>
              </a:rPr>
            </a:br>
            <a:br>
              <a:rPr lang="en-GB" sz="2400" dirty="0">
                <a:solidFill>
                  <a:srgbClr val="FF0000"/>
                </a:solidFill>
                <a:cs typeface="Arial"/>
              </a:rPr>
            </a:br>
            <a:br>
              <a:rPr lang="en-GB" sz="2400" dirty="0">
                <a:solidFill>
                  <a:srgbClr val="FF0000"/>
                </a:solidFill>
                <a:cs typeface="Arial"/>
              </a:rPr>
            </a:br>
            <a:br>
              <a:rPr lang="en-GB" sz="2400" dirty="0">
                <a:solidFill>
                  <a:srgbClr val="FF0000"/>
                </a:solidFill>
                <a:cs typeface="Arial"/>
              </a:rPr>
            </a:br>
            <a:br>
              <a:rPr lang="en-GB" sz="3600" dirty="0">
                <a:solidFill>
                  <a:srgbClr val="FF0000"/>
                </a:solidFill>
                <a:cs typeface="Arial"/>
              </a:rPr>
            </a:br>
            <a:br>
              <a:rPr lang="en-GB" sz="3600" dirty="0">
                <a:solidFill>
                  <a:srgbClr val="FF0000"/>
                </a:solidFill>
                <a:cs typeface="Arial"/>
              </a:rPr>
            </a:br>
            <a:br>
              <a:rPr lang="en-GB" sz="3600" dirty="0">
                <a:solidFill>
                  <a:srgbClr val="FF0000"/>
                </a:solidFill>
                <a:cs typeface="Arial"/>
              </a:rPr>
            </a:br>
            <a:br>
              <a:rPr lang="en-GB" sz="3600" dirty="0">
                <a:solidFill>
                  <a:srgbClr val="FF0000"/>
                </a:solidFill>
                <a:cs typeface="Arial"/>
              </a:rPr>
            </a:br>
            <a:br>
              <a:rPr lang="en-GB" sz="3600" dirty="0">
                <a:solidFill>
                  <a:srgbClr val="FF0000"/>
                </a:solidFill>
                <a:cs typeface="Arial"/>
              </a:rPr>
            </a:br>
            <a:br>
              <a:rPr lang="en-GB" sz="3600" dirty="0">
                <a:solidFill>
                  <a:srgbClr val="FF0000"/>
                </a:solidFill>
                <a:cs typeface="Arial"/>
              </a:rPr>
            </a:br>
            <a:r>
              <a:rPr lang="en-US" sz="2400" dirty="0">
                <a:solidFill>
                  <a:srgbClr val="FF0000"/>
                </a:solidFill>
                <a:cs typeface="Arial"/>
              </a:rPr>
              <a:t>3. </a:t>
            </a:r>
            <a:r>
              <a:rPr lang="en-GB" sz="2400" dirty="0">
                <a:solidFill>
                  <a:srgbClr val="FF0000"/>
                </a:solidFill>
                <a:cs typeface="Arial"/>
              </a:rPr>
              <a:t>We have 20 rows in the dataset : </a:t>
            </a:r>
            <a:r>
              <a:rPr lang="en-IN" sz="2000" dirty="0"/>
              <a:t>1000</a:t>
            </a:r>
            <a:endParaRPr lang="en-US" sz="2700" dirty="0">
              <a:solidFill>
                <a:srgbClr val="FF0000"/>
              </a:solidFill>
              <a:cs typeface="Arial"/>
            </a:endParaRPr>
          </a:p>
        </p:txBody>
      </p:sp>
      <p:graphicFrame>
        <p:nvGraphicFramePr>
          <p:cNvPr id="6" name="Table 5">
            <a:extLst>
              <a:ext uri="{FF2B5EF4-FFF2-40B4-BE49-F238E27FC236}">
                <a16:creationId xmlns:a16="http://schemas.microsoft.com/office/drawing/2014/main" id="{C95E4FB1-FCAC-2705-6130-B3E70DB46068}"/>
              </a:ext>
            </a:extLst>
          </p:cNvPr>
          <p:cNvGraphicFramePr>
            <a:graphicFrameLocks noGrp="1"/>
          </p:cNvGraphicFramePr>
          <p:nvPr>
            <p:extLst>
              <p:ext uri="{D42A27DB-BD31-4B8C-83A1-F6EECF244321}">
                <p14:modId xmlns:p14="http://schemas.microsoft.com/office/powerpoint/2010/main" val="679519159"/>
              </p:ext>
            </p:extLst>
          </p:nvPr>
        </p:nvGraphicFramePr>
        <p:xfrm>
          <a:off x="143975" y="2876720"/>
          <a:ext cx="9019692" cy="3004626"/>
        </p:xfrm>
        <a:graphic>
          <a:graphicData uri="http://schemas.openxmlformats.org/drawingml/2006/table">
            <a:tbl>
              <a:tblPr>
                <a:tableStyleId>{3C2FFA5D-87B4-456A-9821-1D502468CF0F}</a:tableStyleId>
              </a:tblPr>
              <a:tblGrid>
                <a:gridCol w="1002188">
                  <a:extLst>
                    <a:ext uri="{9D8B030D-6E8A-4147-A177-3AD203B41FA5}">
                      <a16:colId xmlns:a16="http://schemas.microsoft.com/office/drawing/2014/main" val="947518266"/>
                    </a:ext>
                  </a:extLst>
                </a:gridCol>
                <a:gridCol w="1002188">
                  <a:extLst>
                    <a:ext uri="{9D8B030D-6E8A-4147-A177-3AD203B41FA5}">
                      <a16:colId xmlns:a16="http://schemas.microsoft.com/office/drawing/2014/main" val="2598409154"/>
                    </a:ext>
                  </a:extLst>
                </a:gridCol>
                <a:gridCol w="1002188">
                  <a:extLst>
                    <a:ext uri="{9D8B030D-6E8A-4147-A177-3AD203B41FA5}">
                      <a16:colId xmlns:a16="http://schemas.microsoft.com/office/drawing/2014/main" val="3793080270"/>
                    </a:ext>
                  </a:extLst>
                </a:gridCol>
                <a:gridCol w="1002188">
                  <a:extLst>
                    <a:ext uri="{9D8B030D-6E8A-4147-A177-3AD203B41FA5}">
                      <a16:colId xmlns:a16="http://schemas.microsoft.com/office/drawing/2014/main" val="3032297328"/>
                    </a:ext>
                  </a:extLst>
                </a:gridCol>
                <a:gridCol w="1002188">
                  <a:extLst>
                    <a:ext uri="{9D8B030D-6E8A-4147-A177-3AD203B41FA5}">
                      <a16:colId xmlns:a16="http://schemas.microsoft.com/office/drawing/2014/main" val="589452502"/>
                    </a:ext>
                  </a:extLst>
                </a:gridCol>
                <a:gridCol w="1002188">
                  <a:extLst>
                    <a:ext uri="{9D8B030D-6E8A-4147-A177-3AD203B41FA5}">
                      <a16:colId xmlns:a16="http://schemas.microsoft.com/office/drawing/2014/main" val="3246243752"/>
                    </a:ext>
                  </a:extLst>
                </a:gridCol>
                <a:gridCol w="1002188">
                  <a:extLst>
                    <a:ext uri="{9D8B030D-6E8A-4147-A177-3AD203B41FA5}">
                      <a16:colId xmlns:a16="http://schemas.microsoft.com/office/drawing/2014/main" val="3830250810"/>
                    </a:ext>
                  </a:extLst>
                </a:gridCol>
                <a:gridCol w="1002188">
                  <a:extLst>
                    <a:ext uri="{9D8B030D-6E8A-4147-A177-3AD203B41FA5}">
                      <a16:colId xmlns:a16="http://schemas.microsoft.com/office/drawing/2014/main" val="115624071"/>
                    </a:ext>
                  </a:extLst>
                </a:gridCol>
                <a:gridCol w="1002188">
                  <a:extLst>
                    <a:ext uri="{9D8B030D-6E8A-4147-A177-3AD203B41FA5}">
                      <a16:colId xmlns:a16="http://schemas.microsoft.com/office/drawing/2014/main" val="4108567744"/>
                    </a:ext>
                  </a:extLst>
                </a:gridCol>
              </a:tblGrid>
              <a:tr h="814156">
                <a:tc>
                  <a:txBody>
                    <a:bodyPr/>
                    <a:lstStyle/>
                    <a:p>
                      <a:pPr algn="l" fontAlgn="t">
                        <a:buNone/>
                      </a:pPr>
                      <a:r>
                        <a:rPr lang="en-IN" sz="1600">
                          <a:effectLst/>
                        </a:rPr>
                        <a:t>Transaction ID</a:t>
                      </a:r>
                      <a:endParaRPr lang="en-IN" sz="1600">
                        <a:solidFill>
                          <a:srgbClr val="5F6368"/>
                        </a:solidFill>
                        <a:effectLst/>
                        <a:latin typeface="inherit"/>
                      </a:endParaRPr>
                    </a:p>
                  </a:txBody>
                  <a:tcPr marL="82826" marR="82826" marT="55217" marB="55217"/>
                </a:tc>
                <a:tc>
                  <a:txBody>
                    <a:bodyPr/>
                    <a:lstStyle/>
                    <a:p>
                      <a:pPr algn="l" fontAlgn="t">
                        <a:buNone/>
                      </a:pPr>
                      <a:r>
                        <a:rPr lang="en-IN" sz="1600" dirty="0">
                          <a:effectLst/>
                        </a:rPr>
                        <a:t>Date</a:t>
                      </a:r>
                      <a:endParaRPr lang="en-IN" sz="1600" dirty="0">
                        <a:solidFill>
                          <a:srgbClr val="5F6368"/>
                        </a:solidFill>
                        <a:effectLst/>
                        <a:latin typeface="inherit"/>
                      </a:endParaRPr>
                    </a:p>
                  </a:txBody>
                  <a:tcPr marL="82826" marR="82826" marT="55217" marB="55217"/>
                </a:tc>
                <a:tc>
                  <a:txBody>
                    <a:bodyPr/>
                    <a:lstStyle/>
                    <a:p>
                      <a:pPr algn="l" fontAlgn="t">
                        <a:buNone/>
                      </a:pPr>
                      <a:r>
                        <a:rPr lang="en-IN" sz="1600">
                          <a:effectLst/>
                        </a:rPr>
                        <a:t>Customer ID</a:t>
                      </a:r>
                      <a:endParaRPr lang="en-IN" sz="1600">
                        <a:solidFill>
                          <a:srgbClr val="5F6368"/>
                        </a:solidFill>
                        <a:effectLst/>
                        <a:latin typeface="inherit"/>
                      </a:endParaRPr>
                    </a:p>
                  </a:txBody>
                  <a:tcPr marL="82826" marR="82826" marT="55217" marB="55217"/>
                </a:tc>
                <a:tc>
                  <a:txBody>
                    <a:bodyPr/>
                    <a:lstStyle/>
                    <a:p>
                      <a:pPr algn="l" fontAlgn="t">
                        <a:buNone/>
                      </a:pPr>
                      <a:r>
                        <a:rPr lang="en-IN" sz="1600" dirty="0">
                          <a:effectLst/>
                        </a:rPr>
                        <a:t>Gender</a:t>
                      </a:r>
                      <a:endParaRPr lang="en-IN" sz="1600" dirty="0">
                        <a:solidFill>
                          <a:srgbClr val="5F6368"/>
                        </a:solidFill>
                        <a:effectLst/>
                        <a:latin typeface="inherit"/>
                      </a:endParaRPr>
                    </a:p>
                  </a:txBody>
                  <a:tcPr marL="82826" marR="82826" marT="55217" marB="55217"/>
                </a:tc>
                <a:tc>
                  <a:txBody>
                    <a:bodyPr/>
                    <a:lstStyle/>
                    <a:p>
                      <a:pPr algn="l" fontAlgn="t">
                        <a:buNone/>
                      </a:pPr>
                      <a:r>
                        <a:rPr lang="en-IN" sz="1600">
                          <a:effectLst/>
                        </a:rPr>
                        <a:t>Age</a:t>
                      </a:r>
                      <a:endParaRPr lang="en-IN" sz="1600">
                        <a:solidFill>
                          <a:srgbClr val="5F6368"/>
                        </a:solidFill>
                        <a:effectLst/>
                        <a:latin typeface="inherit"/>
                      </a:endParaRPr>
                    </a:p>
                  </a:txBody>
                  <a:tcPr marL="82826" marR="82826" marT="55217" marB="55217"/>
                </a:tc>
                <a:tc>
                  <a:txBody>
                    <a:bodyPr/>
                    <a:lstStyle/>
                    <a:p>
                      <a:pPr algn="l" fontAlgn="t">
                        <a:buNone/>
                      </a:pPr>
                      <a:r>
                        <a:rPr lang="en-IN" sz="1600">
                          <a:effectLst/>
                        </a:rPr>
                        <a:t>Product Category</a:t>
                      </a:r>
                      <a:endParaRPr lang="en-IN" sz="1600">
                        <a:solidFill>
                          <a:srgbClr val="5F6368"/>
                        </a:solidFill>
                        <a:effectLst/>
                        <a:latin typeface="inherit"/>
                      </a:endParaRPr>
                    </a:p>
                  </a:txBody>
                  <a:tcPr marL="82826" marR="82826" marT="55217" marB="55217"/>
                </a:tc>
                <a:tc>
                  <a:txBody>
                    <a:bodyPr/>
                    <a:lstStyle/>
                    <a:p>
                      <a:pPr algn="l" fontAlgn="t">
                        <a:buNone/>
                      </a:pPr>
                      <a:r>
                        <a:rPr lang="en-IN" sz="1600">
                          <a:effectLst/>
                        </a:rPr>
                        <a:t>Quantity</a:t>
                      </a:r>
                      <a:endParaRPr lang="en-IN" sz="1600">
                        <a:solidFill>
                          <a:srgbClr val="5F6368"/>
                        </a:solidFill>
                        <a:effectLst/>
                        <a:latin typeface="inherit"/>
                      </a:endParaRPr>
                    </a:p>
                  </a:txBody>
                  <a:tcPr marL="82826" marR="82826" marT="55217" marB="55217"/>
                </a:tc>
                <a:tc>
                  <a:txBody>
                    <a:bodyPr/>
                    <a:lstStyle/>
                    <a:p>
                      <a:pPr algn="l" fontAlgn="t">
                        <a:buNone/>
                      </a:pPr>
                      <a:r>
                        <a:rPr lang="en-IN" sz="1600">
                          <a:effectLst/>
                        </a:rPr>
                        <a:t>Price per Unit</a:t>
                      </a:r>
                      <a:endParaRPr lang="en-IN" sz="1600">
                        <a:solidFill>
                          <a:srgbClr val="5F6368"/>
                        </a:solidFill>
                        <a:effectLst/>
                        <a:latin typeface="inherit"/>
                      </a:endParaRPr>
                    </a:p>
                  </a:txBody>
                  <a:tcPr marL="82826" marR="82826" marT="55217" marB="55217"/>
                </a:tc>
                <a:tc>
                  <a:txBody>
                    <a:bodyPr/>
                    <a:lstStyle/>
                    <a:p>
                      <a:pPr algn="l" fontAlgn="t">
                        <a:buNone/>
                      </a:pPr>
                      <a:r>
                        <a:rPr lang="en-IN" sz="1600">
                          <a:effectLst/>
                        </a:rPr>
                        <a:t>Total Amount</a:t>
                      </a:r>
                      <a:endParaRPr lang="en-IN" sz="1600">
                        <a:solidFill>
                          <a:srgbClr val="5F6368"/>
                        </a:solidFill>
                        <a:effectLst/>
                        <a:latin typeface="inherit"/>
                      </a:endParaRPr>
                    </a:p>
                  </a:txBody>
                  <a:tcPr marL="82826" marR="82826" marT="55217" marB="55217"/>
                </a:tc>
                <a:extLst>
                  <a:ext uri="{0D108BD9-81ED-4DB2-BD59-A6C34878D82A}">
                    <a16:rowId xmlns:a16="http://schemas.microsoft.com/office/drawing/2014/main" val="1349485214"/>
                  </a:ext>
                </a:extLst>
              </a:tr>
              <a:tr h="438093">
                <a:tc>
                  <a:txBody>
                    <a:bodyPr/>
                    <a:lstStyle/>
                    <a:p>
                      <a:pPr algn="l" fontAlgn="t">
                        <a:lnSpc>
                          <a:spcPts val="1200"/>
                        </a:lnSpc>
                        <a:buNone/>
                      </a:pPr>
                      <a:r>
                        <a:rPr lang="en-IN" sz="1600">
                          <a:effectLst/>
                        </a:rPr>
                        <a:t>1</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2023-11-24</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CUST001</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Male</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34</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Beauty</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3</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50</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150</a:t>
                      </a:r>
                      <a:endParaRPr lang="en-IN" sz="1600">
                        <a:solidFill>
                          <a:srgbClr val="5F6368"/>
                        </a:solidFill>
                        <a:effectLst/>
                        <a:latin typeface="inherit"/>
                      </a:endParaRPr>
                    </a:p>
                  </a:txBody>
                  <a:tcPr marL="82826" marR="82826" marT="55217" marB="55217"/>
                </a:tc>
                <a:extLst>
                  <a:ext uri="{0D108BD9-81ED-4DB2-BD59-A6C34878D82A}">
                    <a16:rowId xmlns:a16="http://schemas.microsoft.com/office/drawing/2014/main" val="3937889801"/>
                  </a:ext>
                </a:extLst>
              </a:tr>
              <a:tr h="438093">
                <a:tc>
                  <a:txBody>
                    <a:bodyPr/>
                    <a:lstStyle/>
                    <a:p>
                      <a:pPr algn="l" fontAlgn="t">
                        <a:lnSpc>
                          <a:spcPts val="1200"/>
                        </a:lnSpc>
                        <a:buNone/>
                      </a:pPr>
                      <a:r>
                        <a:rPr lang="en-IN" sz="1600" dirty="0">
                          <a:effectLst/>
                        </a:rPr>
                        <a:t>2</a:t>
                      </a:r>
                      <a:endParaRPr lang="en-IN" sz="1600" dirty="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2023-02-27</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CUST002</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Female</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26</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Clothing</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2</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500</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1000</a:t>
                      </a:r>
                      <a:endParaRPr lang="en-IN" sz="1600">
                        <a:solidFill>
                          <a:srgbClr val="5F6368"/>
                        </a:solidFill>
                        <a:effectLst/>
                        <a:latin typeface="inherit"/>
                      </a:endParaRPr>
                    </a:p>
                  </a:txBody>
                  <a:tcPr marL="82826" marR="82826" marT="55217" marB="55217"/>
                </a:tc>
                <a:extLst>
                  <a:ext uri="{0D108BD9-81ED-4DB2-BD59-A6C34878D82A}">
                    <a16:rowId xmlns:a16="http://schemas.microsoft.com/office/drawing/2014/main" val="3432426618"/>
                  </a:ext>
                </a:extLst>
              </a:tr>
              <a:tr h="438093">
                <a:tc>
                  <a:txBody>
                    <a:bodyPr/>
                    <a:lstStyle/>
                    <a:p>
                      <a:pPr algn="l" fontAlgn="t">
                        <a:lnSpc>
                          <a:spcPts val="1200"/>
                        </a:lnSpc>
                        <a:buNone/>
                      </a:pPr>
                      <a:r>
                        <a:rPr lang="en-IN" sz="1600">
                          <a:effectLst/>
                        </a:rPr>
                        <a:t>3</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2023-01-13</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CUST003</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Male</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dirty="0">
                          <a:effectLst/>
                        </a:rPr>
                        <a:t>50</a:t>
                      </a:r>
                      <a:endParaRPr lang="en-IN" sz="1600" dirty="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Electronics</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1</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30</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30</a:t>
                      </a:r>
                      <a:endParaRPr lang="en-IN" sz="1600">
                        <a:solidFill>
                          <a:srgbClr val="5F6368"/>
                        </a:solidFill>
                        <a:effectLst/>
                        <a:latin typeface="inherit"/>
                      </a:endParaRPr>
                    </a:p>
                  </a:txBody>
                  <a:tcPr marL="82826" marR="82826" marT="55217" marB="55217"/>
                </a:tc>
                <a:extLst>
                  <a:ext uri="{0D108BD9-81ED-4DB2-BD59-A6C34878D82A}">
                    <a16:rowId xmlns:a16="http://schemas.microsoft.com/office/drawing/2014/main" val="2999249202"/>
                  </a:ext>
                </a:extLst>
              </a:tr>
              <a:tr h="438093">
                <a:tc>
                  <a:txBody>
                    <a:bodyPr/>
                    <a:lstStyle/>
                    <a:p>
                      <a:pPr algn="l" fontAlgn="t">
                        <a:lnSpc>
                          <a:spcPts val="1200"/>
                        </a:lnSpc>
                        <a:buNone/>
                      </a:pPr>
                      <a:r>
                        <a:rPr lang="en-IN" sz="1600">
                          <a:effectLst/>
                        </a:rPr>
                        <a:t>4</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2023-05-21</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CUST004</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Male</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37</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Clothing</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1</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500</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500</a:t>
                      </a:r>
                      <a:endParaRPr lang="en-IN" sz="1600">
                        <a:solidFill>
                          <a:srgbClr val="5F6368"/>
                        </a:solidFill>
                        <a:effectLst/>
                        <a:latin typeface="inherit"/>
                      </a:endParaRPr>
                    </a:p>
                  </a:txBody>
                  <a:tcPr marL="82826" marR="82826" marT="55217" marB="55217"/>
                </a:tc>
                <a:extLst>
                  <a:ext uri="{0D108BD9-81ED-4DB2-BD59-A6C34878D82A}">
                    <a16:rowId xmlns:a16="http://schemas.microsoft.com/office/drawing/2014/main" val="3269950084"/>
                  </a:ext>
                </a:extLst>
              </a:tr>
              <a:tr h="438093">
                <a:tc>
                  <a:txBody>
                    <a:bodyPr/>
                    <a:lstStyle/>
                    <a:p>
                      <a:pPr algn="l" fontAlgn="t">
                        <a:lnSpc>
                          <a:spcPts val="1200"/>
                        </a:lnSpc>
                        <a:buNone/>
                      </a:pPr>
                      <a:r>
                        <a:rPr lang="en-IN" sz="1600">
                          <a:effectLst/>
                        </a:rPr>
                        <a:t>5</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dirty="0">
                          <a:effectLst/>
                        </a:rPr>
                        <a:t>2023-05-06</a:t>
                      </a:r>
                      <a:endParaRPr lang="en-IN" sz="1600" dirty="0">
                        <a:solidFill>
                          <a:srgbClr val="5F6368"/>
                        </a:solidFill>
                        <a:effectLst/>
                        <a:latin typeface="inherit"/>
                      </a:endParaRPr>
                    </a:p>
                  </a:txBody>
                  <a:tcPr marL="82826" marR="82826" marT="55217" marB="55217"/>
                </a:tc>
                <a:tc>
                  <a:txBody>
                    <a:bodyPr/>
                    <a:lstStyle/>
                    <a:p>
                      <a:pPr algn="l" fontAlgn="t">
                        <a:lnSpc>
                          <a:spcPts val="1200"/>
                        </a:lnSpc>
                        <a:buNone/>
                      </a:pPr>
                      <a:r>
                        <a:rPr lang="en-IN" sz="1600" dirty="0">
                          <a:effectLst/>
                        </a:rPr>
                        <a:t>CUST005</a:t>
                      </a:r>
                      <a:endParaRPr lang="en-IN" sz="1600" dirty="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Male</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dirty="0">
                          <a:effectLst/>
                        </a:rPr>
                        <a:t>30</a:t>
                      </a:r>
                      <a:endParaRPr lang="en-IN" sz="1600" dirty="0">
                        <a:solidFill>
                          <a:srgbClr val="5F6368"/>
                        </a:solidFill>
                        <a:effectLst/>
                        <a:latin typeface="inherit"/>
                      </a:endParaRPr>
                    </a:p>
                  </a:txBody>
                  <a:tcPr marL="82826" marR="82826" marT="55217" marB="55217"/>
                </a:tc>
                <a:tc>
                  <a:txBody>
                    <a:bodyPr/>
                    <a:lstStyle/>
                    <a:p>
                      <a:pPr algn="l" fontAlgn="t">
                        <a:lnSpc>
                          <a:spcPts val="1200"/>
                        </a:lnSpc>
                        <a:buNone/>
                      </a:pPr>
                      <a:r>
                        <a:rPr lang="en-IN" sz="1600" dirty="0">
                          <a:effectLst/>
                        </a:rPr>
                        <a:t>Beauty</a:t>
                      </a:r>
                      <a:endParaRPr lang="en-IN" sz="1600" dirty="0">
                        <a:solidFill>
                          <a:srgbClr val="5F6368"/>
                        </a:solidFill>
                        <a:effectLst/>
                        <a:latin typeface="inherit"/>
                      </a:endParaRPr>
                    </a:p>
                  </a:txBody>
                  <a:tcPr marL="82826" marR="82826" marT="55217" marB="55217"/>
                </a:tc>
                <a:tc>
                  <a:txBody>
                    <a:bodyPr/>
                    <a:lstStyle/>
                    <a:p>
                      <a:pPr algn="l" fontAlgn="t">
                        <a:lnSpc>
                          <a:spcPts val="1200"/>
                        </a:lnSpc>
                        <a:buNone/>
                      </a:pPr>
                      <a:r>
                        <a:rPr lang="en-IN" sz="1600">
                          <a:effectLst/>
                        </a:rPr>
                        <a:t>2</a:t>
                      </a:r>
                      <a:endParaRPr lang="en-IN" sz="1600">
                        <a:solidFill>
                          <a:srgbClr val="5F6368"/>
                        </a:solidFill>
                        <a:effectLst/>
                        <a:latin typeface="inherit"/>
                      </a:endParaRPr>
                    </a:p>
                  </a:txBody>
                  <a:tcPr marL="82826" marR="82826" marT="55217" marB="55217"/>
                </a:tc>
                <a:tc>
                  <a:txBody>
                    <a:bodyPr/>
                    <a:lstStyle/>
                    <a:p>
                      <a:pPr algn="l" fontAlgn="t">
                        <a:lnSpc>
                          <a:spcPts val="1200"/>
                        </a:lnSpc>
                        <a:buNone/>
                      </a:pPr>
                      <a:r>
                        <a:rPr lang="en-IN" sz="1600" dirty="0">
                          <a:effectLst/>
                        </a:rPr>
                        <a:t>50</a:t>
                      </a:r>
                      <a:endParaRPr lang="en-IN" sz="1600" dirty="0">
                        <a:solidFill>
                          <a:srgbClr val="5F6368"/>
                        </a:solidFill>
                        <a:effectLst/>
                        <a:latin typeface="inherit"/>
                      </a:endParaRPr>
                    </a:p>
                  </a:txBody>
                  <a:tcPr marL="82826" marR="82826" marT="55217" marB="55217"/>
                </a:tc>
                <a:tc>
                  <a:txBody>
                    <a:bodyPr/>
                    <a:lstStyle/>
                    <a:p>
                      <a:pPr algn="l" fontAlgn="t">
                        <a:lnSpc>
                          <a:spcPts val="1200"/>
                        </a:lnSpc>
                        <a:buNone/>
                      </a:pPr>
                      <a:r>
                        <a:rPr lang="en-IN" sz="1600" dirty="0">
                          <a:effectLst/>
                        </a:rPr>
                        <a:t>100</a:t>
                      </a:r>
                      <a:endParaRPr lang="en-IN" sz="1600" dirty="0">
                        <a:solidFill>
                          <a:srgbClr val="5F6368"/>
                        </a:solidFill>
                        <a:effectLst/>
                        <a:latin typeface="inherit"/>
                      </a:endParaRPr>
                    </a:p>
                  </a:txBody>
                  <a:tcPr marL="82826" marR="82826" marT="55217" marB="55217"/>
                </a:tc>
                <a:extLst>
                  <a:ext uri="{0D108BD9-81ED-4DB2-BD59-A6C34878D82A}">
                    <a16:rowId xmlns:a16="http://schemas.microsoft.com/office/drawing/2014/main" val="3892232139"/>
                  </a:ext>
                </a:extLst>
              </a:tr>
            </a:tbl>
          </a:graphicData>
        </a:graphic>
      </p:graphicFrame>
      <p:sp>
        <p:nvSpPr>
          <p:cNvPr id="7" name="Rectangle 1">
            <a:extLst>
              <a:ext uri="{FF2B5EF4-FFF2-40B4-BE49-F238E27FC236}">
                <a16:creationId xmlns:a16="http://schemas.microsoft.com/office/drawing/2014/main" id="{AFF753E9-6629-255C-8A94-5801414606A5}"/>
              </a:ext>
            </a:extLst>
          </p:cNvPr>
          <p:cNvSpPr>
            <a:spLocks noChangeArrowheads="1"/>
          </p:cNvSpPr>
          <p:nvPr/>
        </p:nvSpPr>
        <p:spPr bwMode="auto">
          <a:xfrm>
            <a:off x="1486597" y="2600096"/>
            <a:ext cx="15526329"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sz="1600" dirty="0">
                <a:solidFill>
                  <a:srgbClr val="FF0000"/>
                </a:solidFill>
              </a:rPr>
              <a:t>:   </a:t>
            </a:r>
            <a:r>
              <a:rPr lang="en-US" sz="2400" dirty="0">
                <a:solidFill>
                  <a:srgbClr val="FF0000"/>
                </a:solidFill>
              </a:rPr>
              <a:t>DS084 – Retail_sale_dataset.csv</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dirty="0"/>
              <a:t>7COM1079-2025  Student Group No:       Group A 62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dirty="0"/>
              <a:t>3</a:t>
            </a:r>
            <a:endParaRPr lang="en-GB" dirty="0"/>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698305"/>
            <a:ext cx="10974945" cy="3559495"/>
          </a:xfrm>
        </p:spPr>
        <p:txBody>
          <a:bodyPr>
            <a:noAutofit/>
          </a:bodyPr>
          <a:lstStyle/>
          <a:p>
            <a:pPr>
              <a:lnSpc>
                <a:spcPct val="100000"/>
              </a:lnSpc>
            </a:pPr>
            <a:r>
              <a:rPr lang="en-US" sz="2800" b="0" dirty="0">
                <a:latin typeface="Calibri" panose="020F0502020204030204" pitchFamily="34" charset="0"/>
                <a:ea typeface="Calibri" panose="020F0502020204030204" pitchFamily="34" charset="0"/>
                <a:cs typeface="Calibri" panose="020F0502020204030204" pitchFamily="34" charset="0"/>
              </a:rPr>
              <a:t>This dataset is interesting to us because it allows us to examine how customer spending changes across different age groups in a retail environment.</a:t>
            </a:r>
            <a:br>
              <a:rPr lang="en-US" sz="3200" b="0" dirty="0">
                <a:latin typeface="Calibri" panose="020F0502020204030204" pitchFamily="34" charset="0"/>
                <a:cs typeface="Calibri" panose="020F0502020204030204" pitchFamily="34" charset="0"/>
              </a:rPr>
            </a:b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a:t>
            </a:r>
            <a:r>
              <a:rPr lang="en-US" sz="2400" b="0" dirty="0">
                <a:solidFill>
                  <a:srgbClr val="FF0000"/>
                </a:solidFill>
                <a:latin typeface="Calibri"/>
                <a:cs typeface="Calibri"/>
              </a:rPr>
              <a:t>AGE          </a:t>
            </a:r>
            <a:br>
              <a:rPr lang="en-US" sz="2400" b="0" dirty="0">
                <a:solidFill>
                  <a:srgbClr val="FF0000"/>
                </a:solidFill>
                <a:latin typeface="Calibri"/>
                <a:cs typeface="Calibri"/>
              </a:rPr>
            </a:br>
            <a:r>
              <a:rPr lang="en-US" sz="2400" b="0" dirty="0">
                <a:latin typeface="Calibri"/>
                <a:cs typeface="Calibri"/>
              </a:rPr>
              <a:t>This  Independent variable datatype is: </a:t>
            </a:r>
            <a:r>
              <a:rPr lang="en-US" sz="2400" b="0" dirty="0">
                <a:solidFill>
                  <a:srgbClr val="FF0000"/>
                </a:solidFill>
                <a:latin typeface="Calibri"/>
                <a:cs typeface="Calibri"/>
              </a:rPr>
              <a:t>Interval/measurement data.</a:t>
            </a:r>
            <a:br>
              <a:rPr lang="en-US" sz="2400" b="0" dirty="0">
                <a:solidFill>
                  <a:srgbClr val="FF0000"/>
                </a:solidFill>
                <a:latin typeface="Calibri"/>
                <a:cs typeface="Calibri"/>
              </a:rPr>
            </a:br>
            <a:br>
              <a:rPr lang="en-US" sz="2400" b="0" dirty="0">
                <a:latin typeface="Calibri" panose="020F0502020204030204" pitchFamily="34" charset="0"/>
                <a:cs typeface="Calibri" panose="020F0502020204030204" pitchFamily="34" charset="0"/>
              </a:rPr>
            </a:br>
            <a:r>
              <a:rPr lang="en-US" sz="2400" b="0" dirty="0">
                <a:latin typeface="Calibri"/>
                <a:cs typeface="Calibri"/>
              </a:rPr>
              <a:t>Our Dependent variable is: </a:t>
            </a:r>
            <a:r>
              <a:rPr lang="en-US" sz="2400" b="0" dirty="0">
                <a:solidFill>
                  <a:srgbClr val="FF0000"/>
                </a:solidFill>
                <a:latin typeface="Calibri"/>
                <a:cs typeface="Calibri"/>
              </a:rPr>
              <a:t>T</a:t>
            </a:r>
            <a:r>
              <a:rPr lang="en-IN" sz="2400" b="0" dirty="0" err="1">
                <a:solidFill>
                  <a:srgbClr val="FF0000"/>
                </a:solidFill>
              </a:rPr>
              <a:t>otal</a:t>
            </a:r>
            <a:r>
              <a:rPr lang="en-IN" sz="2400" b="0" dirty="0">
                <a:solidFill>
                  <a:srgbClr val="FF0000"/>
                </a:solidFill>
              </a:rPr>
              <a:t> Transaction Amount</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Dependent variable datatype is :</a:t>
            </a:r>
            <a:r>
              <a:rPr lang="en-US" sz="2400" b="0" dirty="0">
                <a:solidFill>
                  <a:srgbClr val="FF0000"/>
                </a:solidFill>
                <a:latin typeface="Calibri"/>
                <a:cs typeface="Calibri"/>
              </a:rPr>
              <a:t>Interval/measurement data</a:t>
            </a: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Group A 62</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dirty="0"/>
              <a:t>4</a:t>
            </a:r>
            <a:endParaRPr lang="en-GB" dirty="0"/>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93914"/>
            <a:ext cx="10640594" cy="3403841"/>
          </a:xfrm>
        </p:spPr>
        <p:txBody>
          <a:bodyPr>
            <a:noAutofit/>
          </a:bodyPr>
          <a:lstStyle/>
          <a:p>
            <a:pPr>
              <a:lnSpc>
                <a:spcPct val="100000"/>
              </a:lnSpc>
            </a:pPr>
            <a:r>
              <a:rPr lang="en-IE" sz="4400" dirty="0">
                <a:effectLst/>
                <a:latin typeface="Calibri"/>
                <a:ea typeface="Calibri" panose="020F0502020204030204" pitchFamily="34" charset="0"/>
                <a:cs typeface="Times New Roman"/>
              </a:rPr>
              <a:t>Template </a:t>
            </a:r>
            <a:r>
              <a:rPr lang="en-IE" sz="4400" baseline="30000" dirty="0">
                <a:effectLst/>
                <a:latin typeface="Calibri"/>
                <a:ea typeface="Calibri" panose="020F0502020204030204" pitchFamily="34" charset="0"/>
                <a:cs typeface="Times New Roman"/>
              </a:rPr>
              <a:t>1</a:t>
            </a:r>
            <a:r>
              <a:rPr lang="en-IE" sz="4400" dirty="0">
                <a:effectLst/>
                <a:latin typeface="Calibri"/>
                <a:ea typeface="Calibri" panose="020F0502020204030204" pitchFamily="34" charset="0"/>
                <a:cs typeface="Times New Roman"/>
              </a:rPr>
              <a:t>: </a:t>
            </a:r>
            <a:r>
              <a:rPr lang="en-US" sz="3200" dirty="0"/>
              <a:t>Is there a correlation between Age and Total Transaction Amount in the retail dataset?</a:t>
            </a:r>
            <a:br>
              <a:rPr lang="en-IE" sz="3000" b="0" dirty="0">
                <a:solidFill>
                  <a:srgbClr val="0070C0"/>
                </a:solidFill>
                <a:latin typeface="Calibri"/>
                <a:ea typeface="Calibri" panose="020F0502020204030204" pitchFamily="34" charset="0"/>
                <a:cs typeface="Times New Roman"/>
              </a:rPr>
            </a:br>
            <a:br>
              <a:rPr lang="en-IE" sz="2400" dirty="0">
                <a:effectLst/>
                <a:latin typeface="Calibri" panose="020F0502020204030204" pitchFamily="34" charset="0"/>
                <a:ea typeface="Calibri" panose="020F0502020204030204" pitchFamily="34" charset="0"/>
                <a:cs typeface="Times New Roman" panose="02020603050405020304" pitchFamily="18" charset="0"/>
              </a:rPr>
            </a:br>
            <a:r>
              <a:rPr lang="en-IE" sz="2400" dirty="0">
                <a:effectLst/>
                <a:latin typeface="Calibri" panose="020F0502020204030204" pitchFamily="34" charset="0"/>
                <a:ea typeface="Calibri" panose="020F0502020204030204" pitchFamily="34" charset="0"/>
                <a:cs typeface="Times New Roman" panose="02020603050405020304" pitchFamily="18" charset="0"/>
              </a:rPr>
              <a:t>1. </a:t>
            </a:r>
            <a:r>
              <a:rPr lang="en-GB" sz="2400" b="0" dirty="0">
                <a:cs typeface="Arial"/>
              </a:rPr>
              <a:t>Null hypothesis (H</a:t>
            </a:r>
            <a:r>
              <a:rPr lang="en-GB" sz="2400" b="0" baseline="-25000" dirty="0">
                <a:cs typeface="Arial"/>
              </a:rPr>
              <a:t>0</a:t>
            </a:r>
            <a:r>
              <a:rPr lang="en-GB" sz="2400" b="0" dirty="0">
                <a:cs typeface="Arial"/>
              </a:rPr>
              <a:t>): </a:t>
            </a:r>
            <a:r>
              <a:rPr lang="en-US" sz="2400" dirty="0">
                <a:solidFill>
                  <a:srgbClr val="FF0000"/>
                </a:solidFill>
              </a:rPr>
              <a:t>There is no correlation between Age and Total Transaction Amount in the retail dataset.</a:t>
            </a:r>
            <a:br>
              <a:rPr lang="en-IE" sz="2400" dirty="0">
                <a:effectLst/>
                <a:latin typeface="Calibri" panose="020F0502020204030204" pitchFamily="34" charset="0"/>
                <a:ea typeface="Calibri" panose="020F0502020204030204" pitchFamily="34" charset="0"/>
                <a:cs typeface="Times New Roman" panose="02020603050405020304" pitchFamily="18" charset="0"/>
              </a:rPr>
            </a:br>
            <a:br>
              <a:rPr lang="en-IE" sz="2400" dirty="0">
                <a:effectLst/>
                <a:latin typeface="Calibri" panose="020F0502020204030204" pitchFamily="34" charset="0"/>
                <a:ea typeface="Calibri" panose="020F0502020204030204" pitchFamily="34" charset="0"/>
                <a:cs typeface="Times New Roman" panose="02020603050405020304" pitchFamily="18" charset="0"/>
              </a:rPr>
            </a:br>
            <a:r>
              <a:rPr lang="en-GB" sz="2400" b="0" dirty="0">
                <a:cs typeface="Arial"/>
              </a:rPr>
              <a:t>2. Alternative hypothesis (H</a:t>
            </a:r>
            <a:r>
              <a:rPr lang="en-GB" sz="2400" b="0" baseline="-25000" dirty="0">
                <a:cs typeface="Arial"/>
              </a:rPr>
              <a:t>1</a:t>
            </a:r>
            <a:r>
              <a:rPr lang="en-GB" sz="2400" b="0" dirty="0">
                <a:cs typeface="Arial"/>
              </a:rPr>
              <a:t>): </a:t>
            </a:r>
            <a:r>
              <a:rPr lang="en-US" sz="2400" dirty="0">
                <a:solidFill>
                  <a:srgbClr val="FF0000"/>
                </a:solidFill>
              </a:rPr>
              <a:t>There is a correlation between Age and Total Transaction Amount in the retail dataset.</a:t>
            </a:r>
            <a:endParaRPr lang="en-GB" sz="2400" dirty="0">
              <a:solidFill>
                <a:srgbClr val="FF0000"/>
              </a:solidFill>
            </a:endParaRPr>
          </a:p>
        </p:txBody>
      </p:sp>
      <p:sp>
        <p:nvSpPr>
          <p:cNvPr id="7" name="TextBox 6">
            <a:extLst>
              <a:ext uri="{FF2B5EF4-FFF2-40B4-BE49-F238E27FC236}">
                <a16:creationId xmlns:a16="http://schemas.microsoft.com/office/drawing/2014/main" id="{F7FEA660-7B39-BC91-3B96-7298CCF66DE1}"/>
              </a:ext>
            </a:extLst>
          </p:cNvPr>
          <p:cNvSpPr txBox="1"/>
          <p:nvPr/>
        </p:nvSpPr>
        <p:spPr>
          <a:xfrm>
            <a:off x="623945" y="5297755"/>
            <a:ext cx="11440040" cy="1477328"/>
          </a:xfrm>
          <a:prstGeom prst="rect">
            <a:avLst/>
          </a:prstGeom>
          <a:solidFill>
            <a:schemeClr val="bg1">
              <a:lumMod val="95000"/>
            </a:schemeClr>
          </a:solidFill>
        </p:spPr>
        <p:txBody>
          <a:bodyPr wrap="square" lIns="91440" tIns="45720" rIns="91440" bIns="45720" rtlCol="0" anchor="t">
            <a:spAutoFit/>
          </a:bodyPr>
          <a:lstStyle/>
          <a:p>
            <a:r>
              <a:rPr lang="en-GB" baseline="30000" dirty="0"/>
              <a:t>1</a:t>
            </a:r>
            <a:r>
              <a:rPr lang="en-GB" b="1" dirty="0">
                <a:latin typeface="Calibri"/>
                <a:cs typeface="Calibri"/>
              </a:rPr>
              <a:t>Correlation</a:t>
            </a:r>
            <a:r>
              <a:rPr lang="en-GB" dirty="0"/>
              <a:t> (</a:t>
            </a:r>
            <a:r>
              <a:rPr lang="en-IE" sz="1800" dirty="0">
                <a:effectLst/>
                <a:latin typeface="Calibri"/>
                <a:ea typeface="Calibri" panose="020F0502020204030204" pitchFamily="34" charset="0"/>
                <a:cs typeface="Times New Roman"/>
              </a:rPr>
              <a:t>Analysis of how </a:t>
            </a:r>
            <a:r>
              <a:rPr lang="en-IE" sz="1800" dirty="0">
                <a:solidFill>
                  <a:srgbClr val="FF0000"/>
                </a:solidFill>
                <a:effectLst/>
                <a:latin typeface="Calibri"/>
                <a:ea typeface="Calibri" panose="020F0502020204030204" pitchFamily="34" charset="0"/>
                <a:cs typeface="Times New Roman"/>
              </a:rPr>
              <a:t>ordinal</a:t>
            </a:r>
            <a:r>
              <a:rPr lang="en-IE" dirty="0">
                <a:solidFill>
                  <a:srgbClr val="FF0000"/>
                </a:solidFill>
                <a:latin typeface="Calibri"/>
                <a:ea typeface="Calibri" panose="020F0502020204030204" pitchFamily="34" charset="0"/>
                <a:cs typeface="Times New Roman"/>
              </a:rPr>
              <a:t>/</a:t>
            </a:r>
            <a:r>
              <a:rPr lang="en-IE" sz="1800" dirty="0">
                <a:solidFill>
                  <a:srgbClr val="FF0000"/>
                </a:solidFill>
                <a:effectLst/>
                <a:latin typeface="Calibri"/>
                <a:ea typeface="Calibri" panose="020F0502020204030204" pitchFamily="34" charset="0"/>
                <a:cs typeface="Times New Roman"/>
              </a:rPr>
              <a:t>interval </a:t>
            </a:r>
            <a:r>
              <a:rPr lang="en-IE" sz="1800" dirty="0">
                <a:solidFill>
                  <a:srgbClr val="00B050"/>
                </a:solidFill>
                <a:effectLst/>
                <a:latin typeface="Calibri"/>
                <a:ea typeface="Calibri" panose="020F0502020204030204" pitchFamily="34" charset="0"/>
                <a:cs typeface="Times New Roman"/>
              </a:rPr>
              <a:t>dependent var</a:t>
            </a:r>
            <a:r>
              <a:rPr lang="en-IE" sz="1800" dirty="0">
                <a:effectLst/>
                <a:latin typeface="Calibri"/>
                <a:ea typeface="Calibri" panose="020F0502020204030204" pitchFamily="34" charset="0"/>
                <a:cs typeface="Times New Roman"/>
              </a:rPr>
              <a:t> </a:t>
            </a:r>
            <a:r>
              <a:rPr lang="en-IE" dirty="0">
                <a:latin typeface="Calibri"/>
                <a:ea typeface="Calibri" panose="020F0502020204030204" pitchFamily="34" charset="0"/>
                <a:cs typeface="Times New Roman"/>
              </a:rPr>
              <a:t>correlates </a:t>
            </a:r>
            <a:r>
              <a:rPr lang="en-IE" sz="1800" dirty="0">
                <a:effectLst/>
                <a:latin typeface="Calibri"/>
                <a:ea typeface="Calibri" panose="020F0502020204030204" pitchFamily="34" charset="0"/>
                <a:cs typeface="Times New Roman"/>
              </a:rPr>
              <a:t>to an </a:t>
            </a:r>
            <a:r>
              <a:rPr lang="en-IE" sz="1800" dirty="0">
                <a:solidFill>
                  <a:srgbClr val="FF0000"/>
                </a:solidFill>
                <a:effectLst/>
                <a:latin typeface="Calibri"/>
                <a:ea typeface="Calibri" panose="020F0502020204030204" pitchFamily="34" charset="0"/>
                <a:cs typeface="Times New Roman"/>
              </a:rPr>
              <a:t>ordinal/interval </a:t>
            </a:r>
            <a:r>
              <a:rPr lang="en-IE" sz="1800" dirty="0">
                <a:solidFill>
                  <a:srgbClr val="00B050"/>
                </a:solidFill>
                <a:effectLst/>
                <a:latin typeface="Calibri"/>
                <a:ea typeface="Calibri" panose="020F0502020204030204" pitchFamily="34" charset="0"/>
                <a:cs typeface="Times New Roman"/>
              </a:rPr>
              <a:t>independent variable)</a:t>
            </a:r>
            <a:endParaRPr lang="en-GB" dirty="0">
              <a:latin typeface="Calibri"/>
              <a:cs typeface="Times New Roman"/>
            </a:endParaRPr>
          </a:p>
          <a:p>
            <a:r>
              <a:rPr lang="en-IE" sz="1800" b="1" baseline="30000" dirty="0">
                <a:effectLst/>
                <a:latin typeface="Calibri" panose="020F0502020204030204" pitchFamily="34" charset="0"/>
                <a:ea typeface="Calibri" panose="020F0502020204030204" pitchFamily="34" charset="0"/>
                <a:cs typeface="Times New Roman" panose="02020603050405020304" pitchFamily="18" charset="0"/>
              </a:rPr>
              <a:t>2</a:t>
            </a:r>
            <a:r>
              <a:rPr lang="en-IE" sz="1800" b="1" dirty="0">
                <a:effectLst/>
                <a:latin typeface="Calibri" panose="020F0502020204030204" pitchFamily="34" charset="0"/>
                <a:ea typeface="Calibri" panose="020F0502020204030204" pitchFamily="34" charset="0"/>
                <a:cs typeface="Times New Roman" panose="02020603050405020304" pitchFamily="18" charset="0"/>
              </a:rPr>
              <a:t>Comparison of means</a:t>
            </a:r>
            <a:r>
              <a:rPr lang="en-IE" sz="1800" dirty="0">
                <a:effectLst/>
                <a:latin typeface="Calibri" panose="020F0502020204030204" pitchFamily="34" charset="0"/>
                <a:ea typeface="Calibri" panose="020F0502020204030204" pitchFamily="34" charset="0"/>
                <a:cs typeface="Times New Roman" panose="02020603050405020304" pitchFamily="18" charset="0"/>
              </a:rPr>
              <a:t> (or medians): Analysis of the difference between the mean (or median) value of a characteristic shared by members of two different populations.</a:t>
            </a:r>
          </a:p>
          <a:p>
            <a:r>
              <a:rPr lang="en-IE" sz="1800" b="1" baseline="30000" dirty="0">
                <a:effectLst/>
                <a:latin typeface="Calibri" panose="020F0502020204030204" pitchFamily="34" charset="0"/>
                <a:ea typeface="Calibri" panose="020F0502020204030204" pitchFamily="34" charset="0"/>
                <a:cs typeface="Times New Roman" panose="02020603050405020304" pitchFamily="18" charset="0"/>
              </a:rPr>
              <a:t>3</a:t>
            </a:r>
            <a:r>
              <a:rPr lang="en-IE" sz="1800" b="1" dirty="0">
                <a:effectLst/>
                <a:latin typeface="Calibri" panose="020F0502020204030204" pitchFamily="34" charset="0"/>
                <a:ea typeface="Calibri" panose="020F0502020204030204" pitchFamily="34" charset="0"/>
                <a:cs typeface="Times New Roman" panose="02020603050405020304" pitchFamily="18" charset="0"/>
              </a:rPr>
              <a:t>Comparison of proportions:</a:t>
            </a:r>
            <a:r>
              <a:rPr lang="en-IE" sz="1800" dirty="0">
                <a:effectLst/>
                <a:latin typeface="Calibri" panose="020F0502020204030204" pitchFamily="34" charset="0"/>
                <a:ea typeface="Calibri" panose="020F0502020204030204" pitchFamily="34" charset="0"/>
                <a:cs typeface="Times New Roman" panose="02020603050405020304" pitchFamily="18" charset="0"/>
              </a:rPr>
              <a:t> Analysis of the difference in proportions of a characteristic shared by members of two different populations. </a:t>
            </a:r>
            <a:endParaRPr lang="en-GB" dirty="0"/>
          </a:p>
        </p:txBody>
      </p:sp>
    </p:spTree>
    <p:extLst>
      <p:ext uri="{BB962C8B-B14F-4D97-AF65-F5344CB8AC3E}">
        <p14:creationId xmlns:p14="http://schemas.microsoft.com/office/powerpoint/2010/main" val="32494612"/>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97</TotalTime>
  <Words>597</Words>
  <Application>Microsoft Office PowerPoint</Application>
  <PresentationFormat>Widescreen</PresentationFormat>
  <Paragraphs>78</Paragraphs>
  <Slides>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inherit</vt:lpstr>
      <vt:lpstr>Times New Roman</vt:lpstr>
      <vt:lpstr>Herts Theme</vt:lpstr>
      <vt:lpstr>Research Question –  Tutorial Presentation for Feedback Date:  19-11-2025 </vt:lpstr>
      <vt:lpstr>1. Variable used in our Research Question:    Independent variable : Age     Dependent variable : Total Amount  2. The 5 Rows from dataset:          3. We have 20 rows in the dataset : 1000</vt:lpstr>
      <vt:lpstr>This dataset is interesting to us because it allows us to examine how customer spending changes across different age groups in a retail environment.  Our  Independent variable is: AGE           This  Independent variable datatype is: Interval/measurement data.  Our Dependent variable is: Total Transaction Amount                    This Dependent variable datatype is :Interval/measurement data</vt:lpstr>
      <vt:lpstr>Template 1: Is there a correlation between Age and Total Transaction Amount in the retail dataset?  1. Null hypothesis (H0): There is no correlation between Age and Total Transaction Amount in the retail dataset.  2. Alternative hypothesis (H1): There is a correlation between Age and Total Transaction Amount in the retail dataset.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Ritika Talwar</cp:lastModifiedBy>
  <cp:revision>117</cp:revision>
  <dcterms:created xsi:type="dcterms:W3CDTF">2019-10-01T08:37:56Z</dcterms:created>
  <dcterms:modified xsi:type="dcterms:W3CDTF">2025-11-18T21:20:52Z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